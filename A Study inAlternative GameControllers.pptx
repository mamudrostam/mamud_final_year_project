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6FFED5-984E-4E9B-A52E-C51399E8D5F7}" v="568" dt="2026-03-21T12:37:07.7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21/03/2026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21/03/2026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21/03/2026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21/03/2026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21/03/2026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21/03/2026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21/03/2026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21/03/2026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21/03/2026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21/03/2026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21/03/2026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21/03/2026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Gadgets on a desk">
            <a:extLst>
              <a:ext uri="{FF2B5EF4-FFF2-40B4-BE49-F238E27FC236}">
                <a16:creationId xmlns:a16="http://schemas.microsoft.com/office/drawing/2014/main" id="{71BDCA91-87CC-DC1E-DB29-1B30713804BF}"/>
              </a:ext>
            </a:extLst>
          </p:cNvPr>
          <p:cNvPicPr>
            <a:picLocks noChangeAspect="1"/>
          </p:cNvPicPr>
          <p:nvPr/>
        </p:nvPicPr>
        <p:blipFill>
          <a:blip r:embed="rId2"/>
          <a:srcRect t="6419" r="-2" b="18259"/>
          <a:stretch>
            <a:fillRect/>
          </a:stretch>
        </p:blipFill>
        <p:spPr>
          <a:xfrm>
            <a:off x="20" y="-7619"/>
            <a:ext cx="12191979" cy="6887364"/>
          </a:xfrm>
          <a:prstGeom prst="rect">
            <a:avLst/>
          </a:prstGeom>
        </p:spPr>
      </p:pic>
      <p:sp>
        <p:nvSpPr>
          <p:cNvPr id="9" name="Rectangle 8">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20"/>
            <a:ext cx="5566593" cy="6887364"/>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4067CD3-146F-6228-E362-39AA720C2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63442" y="855815"/>
            <a:ext cx="6887365" cy="5160474"/>
          </a:xfrm>
          <a:prstGeom prst="rect">
            <a:avLst/>
          </a:prstGeom>
          <a:gradFill flip="none" rotWithShape="1">
            <a:gsLst>
              <a:gs pos="0">
                <a:schemeClr val="accent5">
                  <a:lumMod val="75000"/>
                  <a:alpha val="91000"/>
                </a:schemeClr>
              </a:gs>
              <a:gs pos="83000">
                <a:schemeClr val="accent5">
                  <a:alpha val="0"/>
                </a:schemeClr>
              </a:gs>
            </a:gsLst>
            <a:lin ang="51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271C7E5C-A0F8-E9FA-56DB-31A257FD4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7648"/>
            <a:ext cx="2079513" cy="6865647"/>
          </a:xfrm>
          <a:prstGeom prst="rect">
            <a:avLst/>
          </a:prstGeom>
          <a:gradFill flip="none" rotWithShape="1">
            <a:gsLst>
              <a:gs pos="5000">
                <a:schemeClr val="accent5"/>
              </a:gs>
              <a:gs pos="49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3F70A3C-4474-2A39-470C-FD55A8837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706777" y="3068761"/>
            <a:ext cx="4504659" cy="3789239"/>
          </a:xfrm>
          <a:prstGeom prst="rect">
            <a:avLst/>
          </a:prstGeom>
          <a:gradFill flip="none" rotWithShape="1">
            <a:gsLst>
              <a:gs pos="0">
                <a:schemeClr val="accent5"/>
              </a:gs>
              <a:gs pos="60000">
                <a:schemeClr val="accent5">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BAC3F7D4-9613-0E1F-901C-98FE831DE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774557" y="-6485"/>
            <a:ext cx="3427160" cy="6879745"/>
          </a:xfrm>
          <a:prstGeom prst="rect">
            <a:avLst/>
          </a:prstGeom>
          <a:gradFill flip="none" rotWithShape="1">
            <a:gsLst>
              <a:gs pos="5000">
                <a:schemeClr val="accent2"/>
              </a:gs>
              <a:gs pos="49000">
                <a:schemeClr val="accent5">
                  <a:lumMod val="60000"/>
                  <a:lumOff val="40000"/>
                  <a:alpha val="0"/>
                </a:scheme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FD5167C-AF48-26F0-7A9F-3F7643374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64705" y="-1061856"/>
            <a:ext cx="3682024" cy="12211438"/>
          </a:xfrm>
          <a:prstGeom prst="rect">
            <a:avLst/>
          </a:prstGeom>
          <a:gradFill>
            <a:gsLst>
              <a:gs pos="0">
                <a:schemeClr val="accent5"/>
              </a:gs>
              <a:gs pos="65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7B30A01-FCA8-86A5-A840-C32A3BE2E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 y="-7639"/>
            <a:ext cx="4879823" cy="6887373"/>
          </a:xfrm>
          <a:prstGeom prst="rect">
            <a:avLst/>
          </a:prstGeom>
          <a:gradFill>
            <a:gsLst>
              <a:gs pos="0">
                <a:schemeClr val="accent2">
                  <a:alpha val="70000"/>
                </a:schemeClr>
              </a:gs>
              <a:gs pos="44000">
                <a:schemeClr val="accent5">
                  <a:lumMod val="60000"/>
                  <a:lumOff val="40000"/>
                  <a:alpha val="0"/>
                </a:schemeClr>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59028" y="2155188"/>
            <a:ext cx="4160233" cy="2839273"/>
          </a:xfrm>
        </p:spPr>
        <p:txBody>
          <a:bodyPr>
            <a:normAutofit/>
          </a:bodyPr>
          <a:lstStyle/>
          <a:p>
            <a:pPr algn="l"/>
            <a:r>
              <a:rPr lang="en-GB" sz="4000">
                <a:solidFill>
                  <a:srgbClr val="FFFFFF"/>
                </a:solidFill>
                <a:ea typeface="+mj-lt"/>
                <a:cs typeface="+mj-lt"/>
              </a:rPr>
              <a:t>New Ways to Play: A Study in Alternative Game Controllers</a:t>
            </a:r>
            <a:endParaRPr lang="en-US" sz="4000">
              <a:solidFill>
                <a:srgbClr val="FFFFFF"/>
              </a:solidFill>
            </a:endParaRPr>
          </a:p>
        </p:txBody>
      </p:sp>
      <p:sp>
        <p:nvSpPr>
          <p:cNvPr id="3" name="Subtitle 2"/>
          <p:cNvSpPr>
            <a:spLocks noGrp="1"/>
          </p:cNvSpPr>
          <p:nvPr>
            <p:ph type="subTitle" idx="1"/>
          </p:nvPr>
        </p:nvSpPr>
        <p:spPr>
          <a:xfrm>
            <a:off x="859028" y="5166367"/>
            <a:ext cx="4160233" cy="850998"/>
          </a:xfrm>
        </p:spPr>
        <p:txBody>
          <a:bodyPr vert="horz" lIns="91440" tIns="45720" rIns="91440" bIns="45720" rtlCol="0">
            <a:normAutofit/>
          </a:bodyPr>
          <a:lstStyle/>
          <a:p>
            <a:pPr algn="l"/>
            <a:endParaRPr lang="en-GB" sz="2000">
              <a:solidFill>
                <a:srgbClr val="FFFFFF"/>
              </a:solidFill>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2FEB64-6EEA-4759-B4A4-BD2C1E66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BB0049-0E14-412D-1443-F9B5085C8856}"/>
              </a:ext>
            </a:extLst>
          </p:cNvPr>
          <p:cNvSpPr>
            <a:spLocks noGrp="1"/>
          </p:cNvSpPr>
          <p:nvPr>
            <p:ph type="title"/>
          </p:nvPr>
        </p:nvSpPr>
        <p:spPr>
          <a:xfrm>
            <a:off x="1389278" y="1233241"/>
            <a:ext cx="3240506" cy="4064628"/>
          </a:xfrm>
        </p:spPr>
        <p:txBody>
          <a:bodyPr>
            <a:normAutofit/>
          </a:bodyPr>
          <a:lstStyle/>
          <a:p>
            <a:r>
              <a:rPr lang="en-GB">
                <a:solidFill>
                  <a:srgbClr val="FFFFFF"/>
                </a:solidFill>
              </a:rPr>
              <a:t>Overview</a:t>
            </a: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D16ADD55-1C43-9B4E-A504-0F1DF841D6E1}"/>
              </a:ext>
            </a:extLst>
          </p:cNvPr>
          <p:cNvSpPr>
            <a:spLocks noGrp="1"/>
          </p:cNvSpPr>
          <p:nvPr>
            <p:ph idx="1"/>
          </p:nvPr>
        </p:nvSpPr>
        <p:spPr>
          <a:xfrm>
            <a:off x="6096000" y="820880"/>
            <a:ext cx="5257799" cy="4889350"/>
          </a:xfrm>
        </p:spPr>
        <p:txBody>
          <a:bodyPr vert="horz" lIns="91440" tIns="45720" rIns="91440" bIns="45720" rtlCol="0" anchor="t">
            <a:normAutofit/>
          </a:bodyPr>
          <a:lstStyle/>
          <a:p>
            <a:r>
              <a:rPr lang="en-GB"/>
              <a:t>First Person Shooter</a:t>
            </a:r>
          </a:p>
          <a:p>
            <a:r>
              <a:rPr lang="en-GB"/>
              <a:t>Playable on PC</a:t>
            </a:r>
            <a:endParaRPr lang="en-GB" dirty="0"/>
          </a:p>
          <a:p>
            <a:r>
              <a:rPr lang="en-GB"/>
              <a:t>Custom Controller (Pi Pico W H &amp; MPU6050)</a:t>
            </a:r>
          </a:p>
          <a:p>
            <a:r>
              <a:rPr lang="en-GB"/>
              <a:t>Study on how alternative controllers effect gameplay</a:t>
            </a:r>
            <a:endParaRPr lang="en-GB" dirty="0"/>
          </a:p>
          <a:p>
            <a:r>
              <a:rPr lang="en-GB" dirty="0"/>
              <a:t>Address the </a:t>
            </a:r>
            <a:r>
              <a:rPr lang="en-GB"/>
              <a:t>accessibility</a:t>
            </a:r>
            <a:r>
              <a:rPr lang="en-GB" dirty="0"/>
              <a:t> and ethics</a:t>
            </a:r>
          </a:p>
          <a:p>
            <a:endParaRPr lang="en-GB" dirty="0"/>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439585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158721-5FCC-7232-E90C-F222757C218A}"/>
              </a:ext>
            </a:extLst>
          </p:cNvPr>
          <p:cNvSpPr>
            <a:spLocks noGrp="1"/>
          </p:cNvSpPr>
          <p:nvPr>
            <p:ph type="title"/>
          </p:nvPr>
        </p:nvSpPr>
        <p:spPr>
          <a:xfrm>
            <a:off x="686834" y="1153572"/>
            <a:ext cx="3200400" cy="4461163"/>
          </a:xfrm>
        </p:spPr>
        <p:txBody>
          <a:bodyPr>
            <a:normAutofit/>
          </a:bodyPr>
          <a:lstStyle/>
          <a:p>
            <a:r>
              <a:rPr lang="en-GB">
                <a:solidFill>
                  <a:srgbClr val="FFFFFF"/>
                </a:solidFill>
              </a:rPr>
              <a:t>Prototype Parts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D35F0F3-F88D-F1E9-180D-2681876907EB}"/>
              </a:ext>
            </a:extLst>
          </p:cNvPr>
          <p:cNvSpPr>
            <a:spLocks noGrp="1"/>
          </p:cNvSpPr>
          <p:nvPr>
            <p:ph idx="1"/>
          </p:nvPr>
        </p:nvSpPr>
        <p:spPr>
          <a:xfrm>
            <a:off x="4447308" y="591344"/>
            <a:ext cx="6906491" cy="5585619"/>
          </a:xfrm>
        </p:spPr>
        <p:txBody>
          <a:bodyPr vert="horz" lIns="91440" tIns="45720" rIns="91440" bIns="45720" rtlCol="0" anchor="ctr">
            <a:normAutofit/>
          </a:bodyPr>
          <a:lstStyle/>
          <a:p>
            <a:r>
              <a:rPr lang="en-GB" err="1">
                <a:ea typeface="+mn-lt"/>
                <a:cs typeface="+mn-lt"/>
              </a:rPr>
              <a:t>BreadBoard</a:t>
            </a:r>
          </a:p>
          <a:p>
            <a:r>
              <a:rPr lang="en-GB"/>
              <a:t>Jumper Wires</a:t>
            </a:r>
          </a:p>
          <a:p>
            <a:r>
              <a:rPr lang="en-GB"/>
              <a:t>Pi Pico W H</a:t>
            </a:r>
            <a:endParaRPr lang="en-GB" dirty="0"/>
          </a:p>
          <a:p>
            <a:r>
              <a:rPr lang="en-GB"/>
              <a:t>MPU6050 (Accelerometer &amp; Gyroscope Module)</a:t>
            </a:r>
            <a:endParaRPr lang="en-US"/>
          </a:p>
          <a:p>
            <a:r>
              <a:rPr lang="en-US"/>
              <a:t>Button</a:t>
            </a:r>
            <a:br>
              <a:rPr lang="en-US" dirty="0"/>
            </a:br>
            <a:endParaRPr lang="en-US"/>
          </a:p>
        </p:txBody>
      </p:sp>
    </p:spTree>
    <p:extLst>
      <p:ext uri="{BB962C8B-B14F-4D97-AF65-F5344CB8AC3E}">
        <p14:creationId xmlns:p14="http://schemas.microsoft.com/office/powerpoint/2010/main" val="4162762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9D3FFC-4E85-DA18-7C59-434C2AD20F71}"/>
              </a:ext>
            </a:extLst>
          </p:cNvPr>
          <p:cNvSpPr>
            <a:spLocks noGrp="1"/>
          </p:cNvSpPr>
          <p:nvPr>
            <p:ph type="title"/>
          </p:nvPr>
        </p:nvSpPr>
        <p:spPr>
          <a:xfrm>
            <a:off x="956826" y="1112969"/>
            <a:ext cx="3937298" cy="4166010"/>
          </a:xfrm>
        </p:spPr>
        <p:txBody>
          <a:bodyPr>
            <a:normAutofit/>
          </a:bodyPr>
          <a:lstStyle/>
          <a:p>
            <a:r>
              <a:rPr lang="en-GB">
                <a:solidFill>
                  <a:srgbClr val="FFFFFF"/>
                </a:solidFill>
              </a:rPr>
              <a:t>State of game</a:t>
            </a: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479E4E31-C268-3FBE-BB06-0A56957D8B4E}"/>
              </a:ext>
            </a:extLst>
          </p:cNvPr>
          <p:cNvSpPr>
            <a:spLocks noGrp="1"/>
          </p:cNvSpPr>
          <p:nvPr>
            <p:ph idx="1"/>
          </p:nvPr>
        </p:nvSpPr>
        <p:spPr>
          <a:xfrm>
            <a:off x="6096000" y="820880"/>
            <a:ext cx="5257799" cy="4889350"/>
          </a:xfrm>
        </p:spPr>
        <p:txBody>
          <a:bodyPr vert="horz" lIns="91440" tIns="45720" rIns="91440" bIns="45720" rtlCol="0" anchor="t">
            <a:normAutofit/>
          </a:bodyPr>
          <a:lstStyle/>
          <a:p>
            <a:r>
              <a:rPr lang="en-GB" sz="2400"/>
              <a:t>Main Menu</a:t>
            </a:r>
          </a:p>
          <a:p>
            <a:r>
              <a:rPr lang="en-GB" sz="2400"/>
              <a:t>2 Scenes (Training Room &amp; Match Room)</a:t>
            </a:r>
          </a:p>
          <a:p>
            <a:r>
              <a:rPr lang="en-GB" sz="2400"/>
              <a:t>Health Bar with Animation</a:t>
            </a:r>
          </a:p>
          <a:p>
            <a:r>
              <a:rPr lang="en-GB" sz="2400"/>
              <a:t>Gun Model (from </a:t>
            </a:r>
            <a:r>
              <a:rPr lang="en-GB" sz="2400" err="1"/>
              <a:t>Sketchfab</a:t>
            </a:r>
            <a:r>
              <a:rPr lang="en-GB" sz="2400"/>
              <a:t> </a:t>
            </a:r>
            <a:r>
              <a:rPr lang="en-GB" sz="2400" err="1">
                <a:ea typeface="+mn-lt"/>
                <a:cs typeface="+mn-lt"/>
              </a:rPr>
              <a:t>referenced</a:t>
            </a:r>
            <a:r>
              <a:rPr lang="en-GB" sz="2400" err="1"/>
              <a:t>in</a:t>
            </a:r>
            <a:r>
              <a:rPr lang="en-GB" sz="2400"/>
              <a:t> ReadMe)</a:t>
            </a:r>
          </a:p>
          <a:p>
            <a:r>
              <a:rPr lang="en-GB" sz="2400"/>
              <a:t>Custom Textures</a:t>
            </a:r>
          </a:p>
          <a:p>
            <a:r>
              <a:rPr lang="en-GB" sz="2400"/>
              <a:t>Player Shoot</a:t>
            </a:r>
          </a:p>
          <a:p>
            <a:r>
              <a:rPr lang="en-GB" sz="2400" err="1"/>
              <a:t>StateMachine</a:t>
            </a:r>
            <a:r>
              <a:rPr lang="en-GB" sz="2400"/>
              <a:t> Enemies for patrol, chase and attack</a:t>
            </a:r>
          </a:p>
          <a:p>
            <a:r>
              <a:rPr lang="en-GB" sz="2400"/>
              <a:t>Custom Model for Enemy</a:t>
            </a:r>
          </a:p>
          <a:p>
            <a:endParaRPr lang="en-GB" sz="2400"/>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099942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42762E-6640-5DFD-6D8A-A57A117DF5B6}"/>
              </a:ext>
            </a:extLst>
          </p:cNvPr>
          <p:cNvSpPr>
            <a:spLocks noGrp="1"/>
          </p:cNvSpPr>
          <p:nvPr>
            <p:ph type="title"/>
          </p:nvPr>
        </p:nvSpPr>
        <p:spPr>
          <a:xfrm>
            <a:off x="1171074" y="1396686"/>
            <a:ext cx="3240506" cy="4064628"/>
          </a:xfrm>
        </p:spPr>
        <p:txBody>
          <a:bodyPr>
            <a:normAutofit/>
          </a:bodyPr>
          <a:lstStyle/>
          <a:p>
            <a:r>
              <a:rPr lang="en-GB">
                <a:solidFill>
                  <a:srgbClr val="FFFFFF"/>
                </a:solidFill>
              </a:rPr>
              <a:t>State of Prototype and next stages</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D111AB4A-49DE-0F84-09E3-3E46C912D2EC}"/>
              </a:ext>
            </a:extLst>
          </p:cNvPr>
          <p:cNvSpPr>
            <a:spLocks noGrp="1"/>
          </p:cNvSpPr>
          <p:nvPr>
            <p:ph idx="1"/>
          </p:nvPr>
        </p:nvSpPr>
        <p:spPr>
          <a:xfrm>
            <a:off x="5370153" y="1382468"/>
            <a:ext cx="5536397" cy="3935281"/>
          </a:xfrm>
        </p:spPr>
        <p:txBody>
          <a:bodyPr vert="horz" lIns="91440" tIns="45720" rIns="91440" bIns="45720" rtlCol="0" anchor="t">
            <a:noAutofit/>
          </a:bodyPr>
          <a:lstStyle/>
          <a:p>
            <a:r>
              <a:rPr lang="en-GB" sz="1800"/>
              <a:t>Current prototype of the controller works fine still some polish needed for the motion tracking when looking around it can go off centre and the player needs to angle the controller which can be weird.</a:t>
            </a:r>
            <a:endParaRPr lang="en-GB" sz="1800" dirty="0"/>
          </a:p>
          <a:p>
            <a:endParaRPr lang="en-GB" sz="1800" dirty="0"/>
          </a:p>
          <a:p>
            <a:r>
              <a:rPr lang="en-GB" sz="1800"/>
              <a:t>Changed from Serial Port to HID so it is easier to test on other computers makes it easier to use.</a:t>
            </a:r>
            <a:endParaRPr lang="en-GB" sz="1800" dirty="0"/>
          </a:p>
          <a:p>
            <a:endParaRPr lang="en-GB" sz="1800" dirty="0"/>
          </a:p>
          <a:p>
            <a:r>
              <a:rPr lang="en-GB" sz="1800"/>
              <a:t>Plug USB in and works fine controlling the mouse with hand motion left/right and up/down. Works in game and the button can be used to interact with stuff like shooting or pressing buttons.</a:t>
            </a:r>
            <a:endParaRPr lang="en-GB" sz="1800" dirty="0"/>
          </a:p>
          <a:p>
            <a:endParaRPr lang="en-GB" sz="1800" dirty="0"/>
          </a:p>
          <a:p>
            <a:r>
              <a:rPr lang="en-GB" sz="1800" dirty="0"/>
              <a:t>Plan to switch to a </a:t>
            </a:r>
            <a:r>
              <a:rPr lang="en-GB" sz="1800" dirty="0" err="1">
                <a:ea typeface="+mn-lt"/>
                <a:cs typeface="+mn-lt"/>
              </a:rPr>
              <a:t>perfboard</a:t>
            </a:r>
            <a:r>
              <a:rPr lang="en-GB" sz="1800" dirty="0">
                <a:ea typeface="+mn-lt"/>
                <a:cs typeface="+mn-lt"/>
              </a:rPr>
              <a:t> for a more finalised form and 3D printing a case where it will be stationed in to look better and more practical to use. Improving the code so it is more reactive and does not have any delay and more responsive.</a:t>
            </a:r>
            <a:endParaRPr lang="en-GB" sz="1400" dirty="0"/>
          </a:p>
        </p:txBody>
      </p:sp>
    </p:spTree>
    <p:extLst>
      <p:ext uri="{BB962C8B-B14F-4D97-AF65-F5344CB8AC3E}">
        <p14:creationId xmlns:p14="http://schemas.microsoft.com/office/powerpoint/2010/main" val="1549917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EF5E1-41AB-EA85-DCA0-A1BEDA951AF9}"/>
              </a:ext>
            </a:extLst>
          </p:cNvPr>
          <p:cNvSpPr>
            <a:spLocks noGrp="1"/>
          </p:cNvSpPr>
          <p:nvPr>
            <p:ph type="title"/>
          </p:nvPr>
        </p:nvSpPr>
        <p:spPr/>
        <p:txBody>
          <a:bodyPr/>
          <a:lstStyle/>
          <a:p>
            <a:r>
              <a:rPr lang="en-GB"/>
              <a:t>Images</a:t>
            </a:r>
            <a:endParaRPr lang="en-GB" dirty="0"/>
          </a:p>
        </p:txBody>
      </p:sp>
      <p:pic>
        <p:nvPicPr>
          <p:cNvPr id="4" name="Content Placeholder 3" descr="A hand holding a white object with wires in front of a computer monitor&#10;&#10;AI-generated content may be incorrect.">
            <a:extLst>
              <a:ext uri="{FF2B5EF4-FFF2-40B4-BE49-F238E27FC236}">
                <a16:creationId xmlns:a16="http://schemas.microsoft.com/office/drawing/2014/main" id="{FAC256E7-17D1-AC07-DAC9-0261B52F7451}"/>
              </a:ext>
            </a:extLst>
          </p:cNvPr>
          <p:cNvPicPr>
            <a:picLocks noGrp="1" noChangeAspect="1"/>
          </p:cNvPicPr>
          <p:nvPr>
            <p:ph idx="1"/>
          </p:nvPr>
        </p:nvPicPr>
        <p:blipFill>
          <a:blip r:embed="rId2"/>
          <a:stretch>
            <a:fillRect/>
          </a:stretch>
        </p:blipFill>
        <p:spPr>
          <a:xfrm>
            <a:off x="840866" y="1846202"/>
            <a:ext cx="2636267" cy="4661876"/>
          </a:xfrm>
          <a:prstGeom prst="rect">
            <a:avLst/>
          </a:prstGeom>
        </p:spPr>
      </p:pic>
      <p:pic>
        <p:nvPicPr>
          <p:cNvPr id="5" name="Picture 4" descr="A video game with an object in a room with grid walls and purple lights&#10;&#10;AI-generated content may be incorrect.">
            <a:extLst>
              <a:ext uri="{FF2B5EF4-FFF2-40B4-BE49-F238E27FC236}">
                <a16:creationId xmlns:a16="http://schemas.microsoft.com/office/drawing/2014/main" id="{082C4D13-DEF5-1D9C-4875-934EB214F69F}"/>
              </a:ext>
            </a:extLst>
          </p:cNvPr>
          <p:cNvPicPr>
            <a:picLocks noChangeAspect="1"/>
          </p:cNvPicPr>
          <p:nvPr/>
        </p:nvPicPr>
        <p:blipFill>
          <a:blip r:embed="rId3"/>
          <a:stretch>
            <a:fillRect/>
          </a:stretch>
        </p:blipFill>
        <p:spPr>
          <a:xfrm>
            <a:off x="6496538" y="279178"/>
            <a:ext cx="5558693" cy="3134412"/>
          </a:xfrm>
          <a:prstGeom prst="rect">
            <a:avLst/>
          </a:prstGeom>
        </p:spPr>
      </p:pic>
      <p:pic>
        <p:nvPicPr>
          <p:cNvPr id="6" name="Picture 5" descr="A video game screen with a grid of neon lights&#10;&#10;AI-generated content may be incorrect.">
            <a:extLst>
              <a:ext uri="{FF2B5EF4-FFF2-40B4-BE49-F238E27FC236}">
                <a16:creationId xmlns:a16="http://schemas.microsoft.com/office/drawing/2014/main" id="{05B48EC7-85E0-3BFE-F766-8E084A9B9F74}"/>
              </a:ext>
            </a:extLst>
          </p:cNvPr>
          <p:cNvPicPr>
            <a:picLocks noChangeAspect="1"/>
          </p:cNvPicPr>
          <p:nvPr/>
        </p:nvPicPr>
        <p:blipFill>
          <a:blip r:embed="rId4"/>
          <a:stretch>
            <a:fillRect/>
          </a:stretch>
        </p:blipFill>
        <p:spPr>
          <a:xfrm>
            <a:off x="4860802" y="3833079"/>
            <a:ext cx="4951779" cy="2738072"/>
          </a:xfrm>
          <a:prstGeom prst="rect">
            <a:avLst/>
          </a:prstGeom>
        </p:spPr>
      </p:pic>
    </p:spTree>
    <p:extLst>
      <p:ext uri="{BB962C8B-B14F-4D97-AF65-F5344CB8AC3E}">
        <p14:creationId xmlns:p14="http://schemas.microsoft.com/office/powerpoint/2010/main" val="4052280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814EA-A4E0-D9B4-9391-76409BF4BE20}"/>
              </a:ext>
            </a:extLst>
          </p:cNvPr>
          <p:cNvSpPr>
            <a:spLocks noGrp="1"/>
          </p:cNvSpPr>
          <p:nvPr>
            <p:ph type="title"/>
          </p:nvPr>
        </p:nvSpPr>
        <p:spPr>
          <a:xfrm>
            <a:off x="147823" y="520521"/>
            <a:ext cx="3455821" cy="1616203"/>
          </a:xfrm>
        </p:spPr>
        <p:txBody>
          <a:bodyPr anchor="b">
            <a:normAutofit/>
          </a:bodyPr>
          <a:lstStyle/>
          <a:p>
            <a:r>
              <a:rPr lang="en-GB" sz="3200"/>
              <a:t>Kanb</a:t>
            </a:r>
            <a:r>
              <a:rPr lang="en-GB" sz="3200">
                <a:latin typeface="Aptos Display"/>
              </a:rPr>
              <a:t>an</a:t>
            </a:r>
            <a:r>
              <a:rPr lang="en-GB" sz="3200"/>
              <a:t> Planner</a:t>
            </a:r>
          </a:p>
        </p:txBody>
      </p:sp>
      <p:pic>
        <p:nvPicPr>
          <p:cNvPr id="4" name="Content Placeholder 3" descr="A screenshot of a computer program&#10;&#10;AI-generated content may be incorrect.">
            <a:extLst>
              <a:ext uri="{FF2B5EF4-FFF2-40B4-BE49-F238E27FC236}">
                <a16:creationId xmlns:a16="http://schemas.microsoft.com/office/drawing/2014/main" id="{ECE32E63-45E7-60E4-D44C-ED1A1CA08EDC}"/>
              </a:ext>
            </a:extLst>
          </p:cNvPr>
          <p:cNvPicPr>
            <a:picLocks noChangeAspect="1"/>
          </p:cNvPicPr>
          <p:nvPr/>
        </p:nvPicPr>
        <p:blipFill>
          <a:blip r:embed="rId2"/>
          <a:stretch>
            <a:fillRect/>
          </a:stretch>
        </p:blipFill>
        <p:spPr>
          <a:xfrm>
            <a:off x="3044020" y="152989"/>
            <a:ext cx="8918301" cy="6583419"/>
          </a:xfrm>
          <a:prstGeom prst="rect">
            <a:avLst/>
          </a:prstGeom>
        </p:spPr>
      </p:pic>
      <p:grpSp>
        <p:nvGrpSpPr>
          <p:cNvPr id="11" name="Group 10">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2" name="Rectangle 11">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704858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New Ways to Play: A Study in Alternative Game Controllers</vt:lpstr>
      <vt:lpstr>Overview</vt:lpstr>
      <vt:lpstr>Prototype Parts</vt:lpstr>
      <vt:lpstr>State of game</vt:lpstr>
      <vt:lpstr>State of Prototype and next stages</vt:lpstr>
      <vt:lpstr>Images</vt:lpstr>
      <vt:lpstr>Kanban Planner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108</cp:revision>
  <dcterms:created xsi:type="dcterms:W3CDTF">2026-03-21T12:13:24Z</dcterms:created>
  <dcterms:modified xsi:type="dcterms:W3CDTF">2026-03-21T12:37:34Z</dcterms:modified>
</cp:coreProperties>
</file>